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86" r:id="rId4"/>
    <p:sldId id="259" r:id="rId5"/>
    <p:sldId id="260" r:id="rId6"/>
    <p:sldId id="262" r:id="rId7"/>
    <p:sldId id="263" r:id="rId8"/>
    <p:sldId id="265" r:id="rId9"/>
    <p:sldId id="264" r:id="rId10"/>
    <p:sldId id="282" r:id="rId11"/>
    <p:sldId id="283" r:id="rId12"/>
    <p:sldId id="266" r:id="rId13"/>
    <p:sldId id="284" r:id="rId14"/>
    <p:sldId id="285" r:id="rId15"/>
    <p:sldId id="275" r:id="rId16"/>
    <p:sldId id="287" r:id="rId17"/>
    <p:sldId id="276" r:id="rId18"/>
    <p:sldId id="278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D652B2-8C6E-419B-8E93-813F678ADC0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6DC3D-C717-495C-B489-C044A339A551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73DCD-2704-49D8-8FC1-3810D347C3F5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A4F013-E0A2-4A1A-883F-2A77275DA5F8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И НАУКИ РОССИЙСКОЙ ФЕДЕРАЦИИ ФЕДЕРАЛЬНОЕ ГОСУДАРСТВЕННОЕ БЮДЖЕТНОЕ ОБРАЗОВАТЕЛЬНОЕ УЧРЕЖДЕНИЕ ВЫСШЕГО ОБРАЗОВАНИЯ “ВОРОНЕЖСКИЙ ГОСУДАРСТВЕННЫЙ УНИВЕРСИТЕТ”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Разработка высоконагруженного </a:t>
            </a:r>
            <a:r>
              <a:rPr lang="en-US" dirty="0"/>
              <a:t>L4-</a:t>
            </a:r>
            <a:r>
              <a:rPr lang="ru-RU" dirty="0"/>
              <a:t>балансировщика нагрузки на основе </a:t>
            </a:r>
            <a:r>
              <a:rPr lang="en-US" dirty="0" err="1"/>
              <a:t>eBPF</a:t>
            </a:r>
            <a:r>
              <a:rPr lang="en-US" dirty="0"/>
              <a:t>/XDP</a:t>
            </a:r>
          </a:p>
          <a:p>
            <a:endParaRPr lang="en-US" dirty="0"/>
          </a:p>
        </p:txBody>
      </p:sp>
      <p:sp>
        <p:nvSpPr>
          <p:cNvPr id="4" name="Subtitle 2"/>
          <p:cNvSpPr txBox="1"/>
          <p:nvPr/>
        </p:nvSpPr>
        <p:spPr>
          <a:xfrm>
            <a:off x="353627" y="5257800"/>
            <a:ext cx="2966621" cy="12387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</a:t>
            </a:r>
          </a:p>
          <a:p>
            <a:pPr algn="l"/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</a:t>
            </a:r>
          </a:p>
          <a:p>
            <a:pPr algn="l"/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Зав. кафедрой</a:t>
            </a:r>
            <a:r>
              <a:rPr lang="en-US" alt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5" name="Subtitle 2"/>
          <p:cNvSpPr txBox="1"/>
          <p:nvPr/>
        </p:nvSpPr>
        <p:spPr>
          <a:xfrm>
            <a:off x="8084185" y="5255895"/>
            <a:ext cx="3754120" cy="1238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Магистр </a:t>
            </a:r>
            <a:r>
              <a:rPr lang="en-US" alt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Мамонов Д.В</a:t>
            </a:r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r"/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Самойлов Н.К. ст. преподаватель</a:t>
            </a:r>
          </a:p>
          <a:p>
            <a:pPr algn="r">
              <a:lnSpc>
                <a:spcPct val="100000"/>
              </a:lnSpc>
            </a:pPr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С.Д. Махортов, д.ф.-</a:t>
            </a:r>
            <a:r>
              <a:rPr lang="ru-RU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м.н</a:t>
            </a:r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профессор</a:t>
            </a:r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/>
          <p:cNvSpPr txBox="1"/>
          <p:nvPr/>
        </p:nvSpPr>
        <p:spPr>
          <a:xfrm>
            <a:off x="4144286" y="6186824"/>
            <a:ext cx="3435659" cy="437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Воронеж 202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524000" y="2404373"/>
            <a:ext cx="9144000" cy="5116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ru-RU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Кафедра </a:t>
            </a:r>
            <a:r>
              <a:rPr lang="ru-RU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программирования и информационных технологий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z="1400" smtClean="0">
                <a:solidFill>
                  <a:schemeClr val="tx1"/>
                </a:solidFill>
              </a:rPr>
              <a:t>2</a:t>
            </a:fld>
            <a:endParaRPr lang="ru-RU" sz="1400">
              <a:solidFill>
                <a:schemeClr val="tx1"/>
              </a:solidFill>
            </a:endParaRPr>
          </a:p>
        </p:txBody>
      </p:sp>
      <p:pic>
        <p:nvPicPr>
          <p:cNvPr id="1028" name="Picture 4" descr="Load balancer">
            <a:extLst>
              <a:ext uri="{FF2B5EF4-FFF2-40B4-BE49-F238E27FC236}">
                <a16:creationId xmlns:a16="http://schemas.microsoft.com/office/drawing/2014/main" id="{B71185FF-B692-78D7-2600-374B62FD1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0220" y="1825625"/>
            <a:ext cx="7639050" cy="437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Глоссарий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DDED1F7-3186-1DDB-21CE-54D4BBC24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XDP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eXpress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Path)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фреймворк для обработки пакетов в драйвере сетевого интерфейса, до прохождения через стек ядра. Позволяет принимать решения о пакете с минимальными задержками.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L4-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балансировщик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балансировщик, работающий на транспортном уровне (TCP/UDP). Принимает решения на основе IP-адресов и портов, не анализируя содержимое прикладного протокола.</a:t>
            </a:r>
          </a:p>
          <a:p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Stateless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-балансировка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балансировка, при которой балансировщик не хранит информацию о состоянии соединений. Каждый пакет обрабатывается независимо на основе его заголовков и фиксированного правила маппинга на сервера балансировки.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SYN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flood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тип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‑атаки, при которой злоумышленник отправляет множество TCP-пакетов с флагом SYN (запрос на установление соединения) на целевой сервер, но не завершает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TCP-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рукопожатие. Сервер выделяет ресурсы под каждую попытку установить соединение, быстро истощая их и переставая обслуживать легитимные запросы.</a:t>
            </a:r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z="1400" smtClean="0">
                <a:solidFill>
                  <a:schemeClr val="tx1"/>
                </a:solidFill>
              </a:rPr>
              <a:t>3</a:t>
            </a:fld>
            <a:endParaRPr lang="ru-RU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4036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балансировщик нагрузки на уровне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основе технологии захвата трафика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XDP, </a:t>
            </a:r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следующими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возможностями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максимально возможная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stateless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балансировка трафика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балансировщиком как через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CLI,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 и </a:t>
            </a:r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gRPC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реконфигурация балансировщика в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инструментарий отслеживания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-атак (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SYN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flood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статистики балансировщика в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Prometheus</a:t>
            </a: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z="1400" smtClean="0">
                <a:solidFill>
                  <a:schemeClr val="tx1"/>
                </a:solidFill>
              </a:rPr>
              <a:t>4</a:t>
            </a:fld>
            <a:endParaRPr lang="ru-RU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Существующие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аналоги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z="1400" smtClean="0">
                <a:solidFill>
                  <a:schemeClr val="tx1"/>
                </a:solidFill>
              </a:rPr>
              <a:t>5</a:t>
            </a:fld>
            <a:endParaRPr lang="ru-RU" sz="1400">
              <a:solidFill>
                <a:schemeClr val="tx1"/>
              </a:solidFill>
            </a:endParaRPr>
          </a:p>
        </p:txBody>
      </p:sp>
      <p:graphicFrame>
        <p:nvGraphicFramePr>
          <p:cNvPr id="15" name="Объект 14">
            <a:extLst>
              <a:ext uri="{FF2B5EF4-FFF2-40B4-BE49-F238E27FC236}">
                <a16:creationId xmlns:a16="http://schemas.microsoft.com/office/drawing/2014/main" id="{53CDF8FE-DF52-8F00-CDCC-F437910F61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3678260"/>
              </p:ext>
            </p:extLst>
          </p:nvPr>
        </p:nvGraphicFramePr>
        <p:xfrm>
          <a:off x="445168" y="1467852"/>
          <a:ext cx="10908635" cy="4888497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097815">
                  <a:extLst>
                    <a:ext uri="{9D8B030D-6E8A-4147-A177-3AD203B41FA5}">
                      <a16:colId xmlns:a16="http://schemas.microsoft.com/office/drawing/2014/main" val="2957931703"/>
                    </a:ext>
                  </a:extLst>
                </a:gridCol>
                <a:gridCol w="2202705">
                  <a:extLst>
                    <a:ext uri="{9D8B030D-6E8A-4147-A177-3AD203B41FA5}">
                      <a16:colId xmlns:a16="http://schemas.microsoft.com/office/drawing/2014/main" val="1898433970"/>
                    </a:ext>
                  </a:extLst>
                </a:gridCol>
                <a:gridCol w="2202705">
                  <a:extLst>
                    <a:ext uri="{9D8B030D-6E8A-4147-A177-3AD203B41FA5}">
                      <a16:colId xmlns:a16="http://schemas.microsoft.com/office/drawing/2014/main" val="1345035123"/>
                    </a:ext>
                  </a:extLst>
                </a:gridCol>
                <a:gridCol w="2202705">
                  <a:extLst>
                    <a:ext uri="{9D8B030D-6E8A-4147-A177-3AD203B41FA5}">
                      <a16:colId xmlns:a16="http://schemas.microsoft.com/office/drawing/2014/main" val="2651778345"/>
                    </a:ext>
                  </a:extLst>
                </a:gridCol>
                <a:gridCol w="2202705">
                  <a:extLst>
                    <a:ext uri="{9D8B030D-6E8A-4147-A177-3AD203B41FA5}">
                      <a16:colId xmlns:a16="http://schemas.microsoft.com/office/drawing/2014/main" val="2053724680"/>
                    </a:ext>
                  </a:extLst>
                </a:gridCol>
              </a:tblGrid>
              <a:tr h="657344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Критерий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Katran</a:t>
                      </a: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Meta</a:t>
                      </a: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IPVS (Linux)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HAProxy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Разрабатываемое решение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1734765"/>
                  </a:ext>
                </a:extLst>
              </a:tr>
              <a:tr h="657344"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Уровень обработки пакетов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XDP/</a:t>
                      </a:r>
                      <a:r>
                        <a:rPr lang="ru-RU" sz="16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eBPF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Netfilter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(ядро) </a:t>
                      </a:r>
                    </a:p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Userspace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XDP/</a:t>
                      </a:r>
                      <a:r>
                        <a:rPr lang="ru-RU" sz="16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eBPF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0132076"/>
                  </a:ext>
                </a:extLst>
              </a:tr>
              <a:tr h="657344"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Латентность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Минимальная</a:t>
                      </a:r>
                    </a:p>
                    <a:p>
                      <a:pPr algn="ctr"/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 </a:t>
                      </a:r>
                    </a:p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 </a:t>
                      </a:r>
                    </a:p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Минимальная </a:t>
                      </a:r>
                    </a:p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1707615"/>
                  </a:ext>
                </a:extLst>
              </a:tr>
              <a:tr h="657344">
                <a:tc>
                  <a:txBody>
                    <a:bodyPr/>
                    <a:lstStyle/>
                    <a:p>
                      <a:r>
                        <a:rPr lang="ru-RU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Stateless</a:t>
                      </a: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-балансировка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186122"/>
                  </a:ext>
                </a:extLst>
              </a:tr>
              <a:tr h="657344"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Защита от </a:t>
                      </a:r>
                      <a:r>
                        <a:rPr lang="ru-RU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DDoS</a:t>
                      </a: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(SYN </a:t>
                      </a:r>
                      <a:r>
                        <a:rPr lang="ru-RU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flood</a:t>
                      </a: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4020896"/>
                  </a:ext>
                </a:extLst>
              </a:tr>
              <a:tr h="944433"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управления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Программный (C++) </a:t>
                      </a:r>
                    </a:p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ipvsadm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(CLI) </a:t>
                      </a:r>
                    </a:p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Runtime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API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gRPC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 </a:t>
                      </a:r>
                    </a:p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8149750"/>
                  </a:ext>
                </a:extLst>
              </a:tr>
              <a:tr h="657344"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Реконфигурация на лету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66" marR="58866" marT="35319" marB="35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9240724"/>
                  </a:ext>
                </a:extLst>
              </a:tr>
            </a:tbl>
          </a:graphicData>
        </a:graphic>
      </p:graphicFrame>
      <p:sp>
        <p:nvSpPr>
          <p:cNvPr id="16" name="Rectangle 1">
            <a:extLst>
              <a:ext uri="{FF2B5EF4-FFF2-40B4-BE49-F238E27FC236}">
                <a16:creationId xmlns:a16="http://schemas.microsoft.com/office/drawing/2014/main" id="{115F49DE-E684-6E66-1CBB-D80F2D3B2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4701" y="0"/>
            <a:ext cx="1247670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реализации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838200" y="1838960"/>
            <a:ext cx="10515600" cy="4351338"/>
          </a:xfrm>
        </p:spPr>
        <p:txBody>
          <a:bodyPr/>
          <a:lstStyle/>
          <a:p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С/С++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libbpf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gRPC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Golang</a:t>
            </a:r>
          </a:p>
          <a:p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CMake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OpenTelemetry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619" y="1359393"/>
            <a:ext cx="2464435" cy="2464435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454" y="1643555"/>
            <a:ext cx="1896110" cy="1896110"/>
          </a:xfrm>
          <a:prstGeom prst="rect">
            <a:avLst/>
          </a:prstGeom>
        </p:spPr>
      </p:pic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z="1400" smtClean="0">
                <a:solidFill>
                  <a:schemeClr val="tx1"/>
                </a:solidFill>
              </a:rPr>
              <a:t>6</a:t>
            </a:fld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4" name="AutoShape 2" descr="What is eBPF? An Introduction and Deep Dive into the eBPF Technology">
            <a:extLst>
              <a:ext uri="{FF2B5EF4-FFF2-40B4-BE49-F238E27FC236}">
                <a16:creationId xmlns:a16="http://schemas.microsoft.com/office/drawing/2014/main" id="{84F7D4BB-9248-556C-38D3-EC7A488890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AutoShape 4" descr="What is eBPF? An Introduction and Deep Dive into the eBPF Technology">
            <a:extLst>
              <a:ext uri="{FF2B5EF4-FFF2-40B4-BE49-F238E27FC236}">
                <a16:creationId xmlns:a16="http://schemas.microsoft.com/office/drawing/2014/main" id="{5A30EDD1-ABB5-1000-D209-115A60EED2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B840970-4DF8-2841-19BB-2AB92459A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920" y="3882072"/>
            <a:ext cx="3489759" cy="1256313"/>
          </a:xfrm>
          <a:prstGeom prst="rect">
            <a:avLst/>
          </a:prstGeom>
        </p:spPr>
      </p:pic>
      <p:pic>
        <p:nvPicPr>
          <p:cNvPr id="2056" name="Picture 8" descr="Это мое резюме основ Golang : r/golang">
            <a:extLst>
              <a:ext uri="{FF2B5EF4-FFF2-40B4-BE49-F238E27FC236}">
                <a16:creationId xmlns:a16="http://schemas.microsoft.com/office/drawing/2014/main" id="{190E0B58-EAFB-12A1-C4D9-ACD73F79A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6043" y="3808607"/>
            <a:ext cx="2464436" cy="1390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gRPC">
            <a:extLst>
              <a:ext uri="{FF2B5EF4-FFF2-40B4-BE49-F238E27FC236}">
                <a16:creationId xmlns:a16="http://schemas.microsoft.com/office/drawing/2014/main" id="{E5DAF650-5F2D-1215-79D9-FDC3B5916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9956" y="1408504"/>
            <a:ext cx="2366211" cy="236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4" descr="What is OpenTelemetry and why is it the future of instrumentation? | CNCF">
            <a:extLst>
              <a:ext uri="{FF2B5EF4-FFF2-40B4-BE49-F238E27FC236}">
                <a16:creationId xmlns:a16="http://schemas.microsoft.com/office/drawing/2014/main" id="{89E0EC50-7792-3B75-AC96-7A25F250A5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0" name="Picture 6" descr="What is OpenTelemetry and why is it the future of instrumentation? | CNCF">
            <a:extLst>
              <a:ext uri="{FF2B5EF4-FFF2-40B4-BE49-F238E27FC236}">
                <a16:creationId xmlns:a16="http://schemas.microsoft.com/office/drawing/2014/main" id="{666549FA-4EB5-DF60-C309-7B70FB6DA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5364755"/>
            <a:ext cx="3769861" cy="132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 </a:t>
            </a:r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eBPF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/XDP</a:t>
            </a:r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z="1400" smtClean="0">
                <a:solidFill>
                  <a:schemeClr val="tx1"/>
                </a:solidFill>
              </a:rPr>
              <a:t>7</a:t>
            </a:fld>
            <a:endParaRPr lang="ru-RU" sz="1400">
              <a:solidFill>
                <a:schemeClr val="tx1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4EC932D-9395-8939-A10A-DADBEF182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636" y="1220378"/>
            <a:ext cx="8080776" cy="56376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обработки пакетов в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XDP</a:t>
            </a: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z="1400" smtClean="0">
                <a:solidFill>
                  <a:schemeClr val="tx1"/>
                </a:solidFill>
              </a:rPr>
              <a:t>8</a:t>
            </a:fld>
            <a:endParaRPr lang="ru-RU" sz="1400">
              <a:solidFill>
                <a:schemeClr val="tx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D8F3EC3-88D8-C663-C56E-901A27C92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8" y="1468778"/>
            <a:ext cx="12155632" cy="44116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работы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BPF-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карт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z="1400" smtClean="0">
                <a:solidFill>
                  <a:schemeClr val="tx1"/>
                </a:solidFill>
              </a:rPr>
              <a:t>9</a:t>
            </a:fld>
            <a:endParaRPr lang="ru-RU" sz="1400">
              <a:solidFill>
                <a:schemeClr val="tx1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FBF1A55-8C9A-DD0F-BAC0-D7174B094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486" y="1283557"/>
            <a:ext cx="8643990" cy="55744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балансировщика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z="1400" smtClean="0">
                <a:solidFill>
                  <a:schemeClr val="tx1"/>
                </a:solidFill>
              </a:rPr>
              <a:t>10</a:t>
            </a:fld>
            <a:endParaRPr lang="ru-RU" sz="1400">
              <a:solidFill>
                <a:schemeClr val="tx1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95B8694-FBAD-E0E9-3461-4AB1B8E11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13" y="1420566"/>
            <a:ext cx="10472305" cy="493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862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отслеживания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SYN-flood</a:t>
            </a: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z="1400" smtClean="0">
                <a:solidFill>
                  <a:schemeClr val="tx1"/>
                </a:solidFill>
              </a:rPr>
              <a:t>11</a:t>
            </a:fld>
            <a:endParaRPr lang="ru-RU" sz="1400">
              <a:solidFill>
                <a:schemeClr val="tx1"/>
              </a:solidFill>
            </a:endParaRP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B169F906-F2A3-B824-4C79-5F13BDFDAC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4778" y="2056746"/>
            <a:ext cx="10977735" cy="3278986"/>
          </a:xfrm>
        </p:spPr>
      </p:pic>
    </p:spTree>
    <p:extLst>
      <p:ext uri="{BB962C8B-B14F-4D97-AF65-F5344CB8AC3E}">
        <p14:creationId xmlns:p14="http://schemas.microsoft.com/office/powerpoint/2010/main" val="1392576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консистентного хеширования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z="1400" smtClean="0">
                <a:solidFill>
                  <a:schemeClr val="tx1"/>
                </a:solidFill>
              </a:rPr>
              <a:t>12</a:t>
            </a:fld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D1EBBC91-4372-45F0-D5D0-4035341A02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533F78-B33B-41F5-C2FD-A5C112AFE650}"/>
              </a:ext>
            </a:extLst>
          </p:cNvPr>
          <p:cNvSpPr txBox="1"/>
          <p:nvPr/>
        </p:nvSpPr>
        <p:spPr>
          <a:xfrm>
            <a:off x="1022684" y="2228612"/>
            <a:ext cx="3386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Простой вариант консистентного хеширования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CAF740-04A6-D734-0CFB-A912BE13912D}"/>
              </a:ext>
            </a:extLst>
          </p:cNvPr>
          <p:cNvSpPr txBox="1"/>
          <p:nvPr/>
        </p:nvSpPr>
        <p:spPr>
          <a:xfrm>
            <a:off x="6595311" y="2228612"/>
            <a:ext cx="3386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 алгоритма с двойным хешированием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222E458-6AD1-BC75-8257-FDA3A532C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36" y="3003161"/>
            <a:ext cx="5413288" cy="329698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73F2E20-CF1B-A953-3ECA-B4FF609F0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721" y="3003161"/>
            <a:ext cx="6431762" cy="32573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консистентного хеширования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z="1400" smtClean="0">
                <a:solidFill>
                  <a:schemeClr val="tx1"/>
                </a:solidFill>
              </a:rPr>
              <a:t>13</a:t>
            </a:fld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D1EBBC91-4372-45F0-D5D0-4035341A02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C784AC6-299D-41E8-A449-1335C87C9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72" y="1669472"/>
            <a:ext cx="4249304" cy="382385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D550028-6E75-83E1-9D35-466A09E04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504" y="1625269"/>
            <a:ext cx="6892176" cy="386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20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795922"/>
          </a:xfrm>
        </p:spPr>
        <p:txBody>
          <a:bodyPr/>
          <a:lstStyle/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балансировки трафика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z="1400" smtClean="0">
                <a:solidFill>
                  <a:schemeClr val="tx1"/>
                </a:solidFill>
              </a:rPr>
              <a:t>14</a:t>
            </a:fld>
            <a:endParaRPr lang="ru-RU" sz="1400">
              <a:solidFill>
                <a:schemeClr val="tx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46ACCC-99B7-3BA6-27B3-A2FB863E1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603" y="932448"/>
            <a:ext cx="9620793" cy="584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386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DDoS-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атака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собственное решение)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z="1400" smtClean="0">
                <a:solidFill>
                  <a:schemeClr val="tx1"/>
                </a:solidFill>
              </a:rPr>
              <a:t>15</a:t>
            </a:fld>
            <a:endParaRPr lang="ru-RU" sz="1400">
              <a:solidFill>
                <a:schemeClr val="tx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890B9C1-3247-F856-D121-C6DA7228B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903" y="1405551"/>
            <a:ext cx="10478650" cy="508732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DDoS-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атака (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Katran)</a:t>
            </a:r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z="1400" smtClean="0">
                <a:solidFill>
                  <a:schemeClr val="tx1"/>
                </a:solidFill>
              </a:rPr>
              <a:t>16</a:t>
            </a:fld>
            <a:endParaRPr lang="ru-RU" sz="1400">
              <a:solidFill>
                <a:schemeClr val="tx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1ACC3F1-D974-9C6E-C5F7-026CE3F87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97" y="1384165"/>
            <a:ext cx="11667533" cy="427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64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Р</a:t>
            </a:r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еализован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балансировщик нагрузки на уровне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основе технологии захвата трафика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XDP, </a:t>
            </a:r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следующими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возможностями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максимально возможная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stateless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балансировка трафика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балансировщиком как через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CLI,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 и </a:t>
            </a:r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gRPC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реконфигурация балансировщика в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инструментарий отслеживания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-атак (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SYN flood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статистики балансировщика в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Prometheus</a:t>
            </a:r>
          </a:p>
          <a:p>
            <a:endParaRPr lang="ru-RU" altLang="en-US" dirty="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z="1400" smtClean="0">
                <a:solidFill>
                  <a:schemeClr val="tx1"/>
                </a:solidFill>
              </a:rPr>
              <a:t>17</a:t>
            </a:fld>
            <a:endParaRPr lang="ru-RU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И НАУКИ РОССИЙСКОЙ ФЕДЕРАЦИИ ФЕДЕРАЛЬНОЕ ГОСУДАРСТВЕННОЕ БЮДЖЕТНОЕ ОБРАЗОВАТЕЛЬНОЕ УЧРЕЖДЕНИЕ ВЫСШЕГО ОБРАЗОВАНИЯ “ВОРОНЕЖСКИЙ ГОСУДАРСТВЕННЫЙ УНИВЕРСИТЕТ”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Разработка высоконагруженного </a:t>
            </a:r>
            <a:r>
              <a:rPr lang="en-US" dirty="0"/>
              <a:t>L4-</a:t>
            </a:r>
            <a:r>
              <a:rPr lang="ru-RU" dirty="0"/>
              <a:t>балансировщика нагрузки на основе </a:t>
            </a:r>
            <a:r>
              <a:rPr lang="en-US" dirty="0" err="1"/>
              <a:t>eBPF</a:t>
            </a:r>
            <a:r>
              <a:rPr lang="en-US" dirty="0"/>
              <a:t>/XDP</a:t>
            </a:r>
          </a:p>
        </p:txBody>
      </p:sp>
      <p:sp>
        <p:nvSpPr>
          <p:cNvPr id="4" name="Subtitle 2"/>
          <p:cNvSpPr txBox="1"/>
          <p:nvPr/>
        </p:nvSpPr>
        <p:spPr>
          <a:xfrm>
            <a:off x="353627" y="5257800"/>
            <a:ext cx="2966621" cy="12387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</a:t>
            </a:r>
          </a:p>
          <a:p>
            <a:pPr algn="l"/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</a:t>
            </a:r>
          </a:p>
          <a:p>
            <a:pPr algn="l"/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Зав. кафедрой</a:t>
            </a:r>
            <a:r>
              <a:rPr lang="en-US" alt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5" name="Subtitle 2"/>
          <p:cNvSpPr txBox="1"/>
          <p:nvPr/>
        </p:nvSpPr>
        <p:spPr>
          <a:xfrm>
            <a:off x="7973695" y="5255895"/>
            <a:ext cx="3864610" cy="1238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Магистр </a:t>
            </a:r>
            <a:r>
              <a:rPr lang="en-US" alt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Мамонов Д.В</a:t>
            </a:r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r"/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Самойлов Н.К. ст. преподаватель</a:t>
            </a:r>
          </a:p>
          <a:p>
            <a:pPr algn="r">
              <a:lnSpc>
                <a:spcPct val="100000"/>
              </a:lnSpc>
            </a:pPr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С.Д. Махортов, д.ф.-</a:t>
            </a:r>
            <a:r>
              <a:rPr lang="ru-RU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м.н</a:t>
            </a:r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профессор</a:t>
            </a:r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/>
          <p:cNvSpPr txBox="1"/>
          <p:nvPr/>
        </p:nvSpPr>
        <p:spPr>
          <a:xfrm>
            <a:off x="4144286" y="6186824"/>
            <a:ext cx="3435659" cy="437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Воронеж 202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524000" y="2404373"/>
            <a:ext cx="9144000" cy="5116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ru-RU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Кафедра </a:t>
            </a:r>
            <a:r>
              <a:rPr lang="ru-RU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программирования и информационных технологий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14984</TotalTime>
  <Words>560</Words>
  <Application>Microsoft Office PowerPoint</Application>
  <PresentationFormat>Широкоэкранный</PresentationFormat>
  <Paragraphs>123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Тема Office</vt:lpstr>
      <vt:lpstr>МИНИСТЕРСТВО ОБРАЗОВАНИЯ И НАУКИ РОССИЙСКОЙ ФЕДЕРАЦИИ ФЕДЕРАЛЬНОЕ ГОСУДАРСТВЕННОЕ БЮДЖЕТНОЕ ОБРАЗОВАТЕЛЬНОЕ УЧРЕЖДЕНИЕ ВЫСШЕГО ОБРАЗОВАНИЯ “ВОРОНЕЖСКИЙ ГОСУДАРСТВЕННЫЙ УНИВЕРСИТЕТ”</vt:lpstr>
      <vt:lpstr>Введение</vt:lpstr>
      <vt:lpstr>Глоссарий</vt:lpstr>
      <vt:lpstr>Постановка задачи</vt:lpstr>
      <vt:lpstr>Существующие аналоги</vt:lpstr>
      <vt:lpstr>Средства реализации</vt:lpstr>
      <vt:lpstr>Технология eBPF/XDP</vt:lpstr>
      <vt:lpstr>Алгоритм обработки пакетов в XDP</vt:lpstr>
      <vt:lpstr>Принцип работы BPF-карт</vt:lpstr>
      <vt:lpstr>Архитектура балансировщика</vt:lpstr>
      <vt:lpstr>Алгоритм отслеживания TCP SYN-flood</vt:lpstr>
      <vt:lpstr>Алгоритм консистентного хеширования</vt:lpstr>
      <vt:lpstr>Алгоритм консистентного хеширования</vt:lpstr>
      <vt:lpstr>Процесс балансировки трафика</vt:lpstr>
      <vt:lpstr>DDoS-атака (собственное решение)</vt:lpstr>
      <vt:lpstr>DDoS-атака (Katran)</vt:lpstr>
      <vt:lpstr>Заключение</vt:lpstr>
      <vt:lpstr>МИНИСТЕРСТВО ОБРАЗОВАНИЯ И НАУКИ РОССИЙСКОЙ ФЕДЕРАЦИИ ФЕДЕРАЛЬНОЕ ГОСУДАРСТВЕННОЕ БЮДЖЕТНОЕ ОБРАЗОВАТЕЛЬНОЕ УЧРЕЖДЕНИЕ ВЫСШЕГО ОБРАЗОВАНИЯ “ВОРОНЕЖСКИЙ ГОСУДАРСТВЕННЫЙ УНИВЕРСИТЕТ”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МИНИСТЕРСТВО ОБРАЗОВАНИЯ И НАУКИ РОССИЙСКОЙ ФЕДЕРАЦИИ ФЕДЕРАЛЬНОЕ ГОСУДАРСТВЕННОЕ БЮДЖЕТНОЕ ОБРАЗОВАТЕЛЬНОЕ УЧРЕЖДЕНИЕ ВЫСШЕГО ОБРАЗОВАНИЯ “ВОРОНЕЖСКИЙ ГОСУДАРСТВЕННЫЙ УНИВЕРСИТЕТ”</dc:title>
  <dc:creator>dimonchik</dc:creator>
  <cp:lastModifiedBy>Дмитрий Мамонов</cp:lastModifiedBy>
  <cp:revision>85</cp:revision>
  <dcterms:created xsi:type="dcterms:W3CDTF">2024-06-04T14:38:56Z</dcterms:created>
  <dcterms:modified xsi:type="dcterms:W3CDTF">2026-05-04T15:53:58Z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1049-11.1.0.11711</vt:lpwstr>
  </property>
</Properties>
</file>